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5" r:id="rId3"/>
    <p:sldId id="273" r:id="rId4"/>
    <p:sldId id="274" r:id="rId5"/>
    <p:sldId id="276" r:id="rId6"/>
    <p:sldId id="277" r:id="rId7"/>
    <p:sldId id="279" r:id="rId8"/>
    <p:sldId id="278" r:id="rId9"/>
    <p:sldId id="280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F774-EA13-239E-7544-DF8B2855F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A6915-B82D-374C-1470-4D4D18F0B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84687-985B-A49C-0C72-298EEDBE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734E5-DF7D-71A4-8CC1-91F77D35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D40F7-74F4-0D48-6ABF-B75350D0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8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B606-6AA5-A7A1-712C-46A9F3BE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09793-8D29-BFEA-CE3F-FFDADE51B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94AB-CFFA-D7EB-F645-31E69189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989C5-ECAF-4690-6CC2-A6E2E620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80D1A-DC75-3649-FFAB-F66FE7D5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F34F-A0F0-4EFA-A464-1F36D67F2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4A9CE-3712-ABE3-233E-BD34A043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43F2-B60B-2670-3275-6E0311EB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9B8BE-0916-4055-98C1-E5728549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48A56-AC9F-BE97-0014-8EF3B78C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9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2A58-CC00-40E6-90E8-EE0B38FD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940DC-D61F-CB66-8510-130F20C30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282B6-6DFC-F212-2EBD-733329D13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4D1BB-E1D0-3981-ED1D-85AEB759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58526-D030-BBEF-A10A-B1092A1D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FF34F-E557-8C11-B724-E77BFD2E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86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2DB4-705B-B6FF-936D-97E9FCF24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6FD08-E4A1-F4E5-E692-92E76743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BD2DE-A099-9B99-D2DA-9BDB75D62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A819E-769A-E8D1-BF06-836C9DD6B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DEA75-25F9-E9C4-11EC-032F8EC04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538AD-EA97-4F4F-3C25-83A448DF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28E46-2D9B-1BA3-E91A-480768E4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1977D-50FE-CF88-EB18-1AE20630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B4C4-0146-1B81-9731-75BCE25F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3BF4A-3A38-A963-8492-A205F0C61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BA614-F752-C46F-C3FC-56959891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B715C-430B-845E-FA50-728B3B3A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FC3BA1-8CAB-A4A6-D713-ED735FA7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1B1BE-38FD-85D7-99AF-7C8257DE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B2B73-CAB2-D2C7-6762-A04ADA06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4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627A-213E-1E5B-2B34-7261DD61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AD85-1DD0-95BA-AE84-38A38A58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8A522-C1D8-C58E-BAC9-3C86818AF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12589-B284-9901-547F-3D17A038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5ED56-315C-48B1-0449-4E24E563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2900B-87C2-73E2-2D78-C34A0825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3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7C645-8F81-4DAD-E23D-1699FE1D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B580F-16B6-69C7-DB06-141827898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B1CC2-4B5B-E361-9C1B-6C7A505A6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106BF-4989-EB1B-F4D0-C6E435A9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7D48C-44E6-52D7-528F-917FA309F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BD439-96C3-8CE0-BB55-3CFC3348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3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18FEC-0620-DB35-174E-7274B89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5D61D-A119-62D4-77D6-A1BFE26AA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561F3-2E53-648D-CED8-61C0284E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C8DB3-A2B5-B2F7-83C9-EF219D2A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BEA0-7D35-8027-D319-46EE5E3C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3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68E1D-50F6-2F6F-03AB-EDC37D2C4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5746E-C712-546E-51E3-2A903CFEE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A5FF4-6A58-A4DD-71D1-8F46E90D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92882-0D8C-271F-3BB9-8D80986A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8DF8F-CD22-2459-A700-8B94DBE9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4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CF8E9-948D-B8DA-CBF7-3BD656A44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EE910-E78E-12A8-0689-D829574E3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51DCA-8622-06D0-0445-7656ACDC2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94311-E0BB-422D-B78D-B174055FDF98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3155F-7D2B-2E28-B179-0800C3783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09FCB-7265-6120-4855-9E265E94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5A4DF-53E4-4803-BD13-F20266471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5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1:Poster of Distinction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American Transplant Congress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(Seattle, Washington, USA) 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r>
              <a:rPr lang="en-US" sz="1800" i="1" dirty="0">
                <a:latin typeface="Source Sans Pro" panose="020B0503030403020204" pitchFamily="34" charset="0"/>
              </a:rPr>
              <a:t>May 2013</a:t>
            </a:r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Immune tolerance across a full MHC barrier in a swine hind limb transplantation model using a combined co-stimulatory blockade and donor bone marrow cell approach.</a:t>
            </a:r>
            <a:endParaRPr lang="en-US" dirty="0"/>
          </a:p>
        </p:txBody>
      </p:sp>
      <p:pic>
        <p:nvPicPr>
          <p:cNvPr id="6" name="Content Placeholder 5" descr="A logo of a company&#10;&#10;Description automatically generated">
            <a:extLst>
              <a:ext uri="{FF2B5EF4-FFF2-40B4-BE49-F238E27FC236}">
                <a16:creationId xmlns:a16="http://schemas.microsoft.com/office/drawing/2014/main" id="{15C25DA5-3BD4-64F2-811B-3E96E66ED7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10" y="1287349"/>
            <a:ext cx="4611353" cy="2424679"/>
          </a:xfrm>
        </p:spPr>
      </p:pic>
      <p:pic>
        <p:nvPicPr>
          <p:cNvPr id="8" name="Picture 7" descr="Diagram of a cell with different colored circles and numbers&#10;&#10;Description automatically generated with medium confidence">
            <a:extLst>
              <a:ext uri="{FF2B5EF4-FFF2-40B4-BE49-F238E27FC236}">
                <a16:creationId xmlns:a16="http://schemas.microsoft.com/office/drawing/2014/main" id="{D1073E5D-3EB4-E8A8-2448-7AE7EE2A6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5" y="3910239"/>
            <a:ext cx="3733498" cy="284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2: Best Poster Award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58th Annual Conference of the Plastic Surgery Research Council 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(Santa Monica, California,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May 2013</a:t>
            </a: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Cutaneous collateral axonal sprouting re-innervates the skin component and restores sensation of denervated swine </a:t>
            </a:r>
            <a:r>
              <a:rPr lang="en-US" sz="1800" b="0" i="0" u="none" strike="noStrike" baseline="0" dirty="0" err="1">
                <a:latin typeface="Source Sans Pro" panose="020B0503030403020204" pitchFamily="34" charset="0"/>
              </a:rPr>
              <a:t>osteomyocutaneous</a:t>
            </a:r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 </a:t>
            </a:r>
            <a:r>
              <a:rPr lang="en-US" sz="1800" b="0" i="0" u="none" strike="noStrike" baseline="0" dirty="0" err="1">
                <a:latin typeface="Source Sans Pro" panose="020B0503030403020204" pitchFamily="34" charset="0"/>
              </a:rPr>
              <a:t>alloflaps</a:t>
            </a:r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 </a:t>
            </a:r>
            <a:endParaRPr lang="en-US" dirty="0"/>
          </a:p>
        </p:txBody>
      </p:sp>
      <p:pic>
        <p:nvPicPr>
          <p:cNvPr id="8" name="Content Placeholder 7" descr="A diagram of a skin component&#10;&#10;Description automatically generated">
            <a:extLst>
              <a:ext uri="{FF2B5EF4-FFF2-40B4-BE49-F238E27FC236}">
                <a16:creationId xmlns:a16="http://schemas.microsoft.com/office/drawing/2014/main" id="{DDB56279-0512-BF77-C317-D3C7B08108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277" y="219536"/>
            <a:ext cx="2987046" cy="2721870"/>
          </a:xfrm>
        </p:spPr>
      </p:pic>
      <p:pic>
        <p:nvPicPr>
          <p:cNvPr id="11" name="Picture 10" descr="A diagram of a skin structure&#10;&#10;Description automatically generated">
            <a:extLst>
              <a:ext uri="{FF2B5EF4-FFF2-40B4-BE49-F238E27FC236}">
                <a16:creationId xmlns:a16="http://schemas.microsoft.com/office/drawing/2014/main" id="{16FBBF9A-72CD-7135-8C1A-D628E794A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39" y="3617465"/>
            <a:ext cx="3590084" cy="272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5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3: Resident Research Award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Baltimore Academy of Surgery Research Day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(Baltimore, Maryland , USA)</a:t>
            </a:r>
          </a:p>
          <a:p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r>
              <a:rPr lang="en-US" sz="1800" i="1" dirty="0">
                <a:latin typeface="Source Sans Pro" panose="020B0503030403020204" pitchFamily="34" charset="0"/>
              </a:rPr>
              <a:t>June 2013</a:t>
            </a:r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Combined Co-Stimulatory Blockade and Donor Bone Marrow Cells Induce Robust Immune Tolerance in a Fully MHC-Mismatched Swine Hind Limb Transplant Model </a:t>
            </a:r>
            <a:endParaRPr lang="en-US" dirty="0"/>
          </a:p>
        </p:txBody>
      </p:sp>
      <p:pic>
        <p:nvPicPr>
          <p:cNvPr id="9" name="Content Placeholder 8" descr="A building with many windows&#10;&#10;Description automatically generated">
            <a:extLst>
              <a:ext uri="{FF2B5EF4-FFF2-40B4-BE49-F238E27FC236}">
                <a16:creationId xmlns:a16="http://schemas.microsoft.com/office/drawing/2014/main" id="{64BEA563-2587-3B07-886D-86EB114328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5" y="1099911"/>
            <a:ext cx="3733498" cy="2796520"/>
          </a:xfrm>
        </p:spPr>
      </p:pic>
      <p:pic>
        <p:nvPicPr>
          <p:cNvPr id="13" name="Picture 12" descr="A diagram of a pig&#10;&#10;Description automatically generated">
            <a:extLst>
              <a:ext uri="{FF2B5EF4-FFF2-40B4-BE49-F238E27FC236}">
                <a16:creationId xmlns:a16="http://schemas.microsoft.com/office/drawing/2014/main" id="{333284ED-CD94-6F0C-3E31-248CDC846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9" t="55079" r="18803"/>
          <a:stretch/>
        </p:blipFill>
        <p:spPr>
          <a:xfrm>
            <a:off x="6585856" y="3991343"/>
            <a:ext cx="4974772" cy="277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2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4: Best Research Poster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96050" cy="4351338"/>
          </a:xfrm>
        </p:spPr>
        <p:txBody>
          <a:bodyPr/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7th Annual Research Poster Session of the Johns Hopkins</a:t>
            </a:r>
            <a:r>
              <a:rPr lang="en-US" sz="1800" b="0" i="1" u="none" strike="noStrike" dirty="0">
                <a:latin typeface="Source Sans Pro" panose="020B0503030403020204" pitchFamily="34" charset="0"/>
              </a:rPr>
              <a:t> </a:t>
            </a: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Department of Surgery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(Baltimore, Maryland 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July 2013</a:t>
            </a:r>
          </a:p>
          <a:p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Combined Co-stimulatory Blockade and Donor Bone Marrow Cells Induce Robust Immune Tolerance in A Fully SLA-mismatched Swine Hind Limb Transplantation Model</a:t>
            </a:r>
            <a:endParaRPr lang="en-US" dirty="0"/>
          </a:p>
        </p:txBody>
      </p:sp>
      <p:pic>
        <p:nvPicPr>
          <p:cNvPr id="5" name="Picture 4" descr="A diagram of a cell cycle&#10;&#10;Description automatically generated">
            <a:extLst>
              <a:ext uri="{FF2B5EF4-FFF2-40B4-BE49-F238E27FC236}">
                <a16:creationId xmlns:a16="http://schemas.microsoft.com/office/drawing/2014/main" id="{0243A411-2D8C-0B1E-BD95-82371D2BD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116" y="3147283"/>
            <a:ext cx="3597083" cy="3675564"/>
          </a:xfrm>
          <a:prstGeom prst="rect">
            <a:avLst/>
          </a:prstGeom>
        </p:spPr>
      </p:pic>
      <p:pic>
        <p:nvPicPr>
          <p:cNvPr id="10" name="Content Placeholder 9" descr="A large brick building with a dome on top&#10;&#10;Description automatically generated">
            <a:extLst>
              <a:ext uri="{FF2B5EF4-FFF2-40B4-BE49-F238E27FC236}">
                <a16:creationId xmlns:a16="http://schemas.microsoft.com/office/drawing/2014/main" id="{91810D1F-F344-EF45-6CAD-CEB7264191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34" y="987142"/>
            <a:ext cx="3841466" cy="2007166"/>
          </a:xfrm>
        </p:spPr>
      </p:pic>
    </p:spTree>
    <p:extLst>
      <p:ext uri="{BB962C8B-B14F-4D97-AF65-F5344CB8AC3E}">
        <p14:creationId xmlns:p14="http://schemas.microsoft.com/office/powerpoint/2010/main" val="143801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5: Highest Podium Presentation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53100" cy="4351338"/>
          </a:xfrm>
        </p:spPr>
        <p:txBody>
          <a:bodyPr/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99th Annual Clinical Congress of the American College of Surgeons 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(Washington, DC,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October  2013</a:t>
            </a: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Building a Clinical Risk Model to Predict Morbidity after Breast Surgery </a:t>
            </a:r>
            <a:endParaRPr lang="en-US" dirty="0"/>
          </a:p>
        </p:txBody>
      </p:sp>
      <p:pic>
        <p:nvPicPr>
          <p:cNvPr id="7" name="Content Placeholder 6" descr="A person with a light bulb and a target&#10;&#10;Description automatically generated">
            <a:extLst>
              <a:ext uri="{FF2B5EF4-FFF2-40B4-BE49-F238E27FC236}">
                <a16:creationId xmlns:a16="http://schemas.microsoft.com/office/drawing/2014/main" id="{739071A6-B0E5-B578-A483-3A5EDAB8EF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930453"/>
            <a:ext cx="4216400" cy="2342444"/>
          </a:xfrm>
        </p:spPr>
      </p:pic>
      <p:pic>
        <p:nvPicPr>
          <p:cNvPr id="13" name="Picture 12" descr="A pink ribbon with text&#10;&#10;Description automatically generated">
            <a:extLst>
              <a:ext uri="{FF2B5EF4-FFF2-40B4-BE49-F238E27FC236}">
                <a16:creationId xmlns:a16="http://schemas.microsoft.com/office/drawing/2014/main" id="{A9FA3740-3142-A2BC-ED1F-3F173BFAC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00" y="3515696"/>
            <a:ext cx="4216400" cy="236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5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6: Best Paper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59th Annual Conference of the Plastic Surgery Research Council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(New York, NY,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March 2014</a:t>
            </a: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 Selectively Permeable Nanofiber Constructs to Prevent Inflammatory Scarring And Enhance Nerve Regeneration in Peripheral Nerve Injury </a:t>
            </a:r>
            <a:endParaRPr lang="en-US" dirty="0"/>
          </a:p>
        </p:txBody>
      </p:sp>
      <p:pic>
        <p:nvPicPr>
          <p:cNvPr id="10" name="Picture 9" descr="Diagram of a cell with text&#10;&#10;Description automatically generated with medium confidence">
            <a:extLst>
              <a:ext uri="{FF2B5EF4-FFF2-40B4-BE49-F238E27FC236}">
                <a16:creationId xmlns:a16="http://schemas.microsoft.com/office/drawing/2014/main" id="{F500AEA7-67DB-5FA0-77FD-0053947BE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302" y="443602"/>
            <a:ext cx="3569498" cy="2985398"/>
          </a:xfrm>
          <a:prstGeom prst="rect">
            <a:avLst/>
          </a:prstGeom>
        </p:spPr>
      </p:pic>
      <p:pic>
        <p:nvPicPr>
          <p:cNvPr id="12" name="Picture 11" descr="Diagram of a diagram showing the effects of a nerve cell and a cell&#10;&#10;Description automatically generated with medium confidence">
            <a:extLst>
              <a:ext uri="{FF2B5EF4-FFF2-40B4-BE49-F238E27FC236}">
                <a16:creationId xmlns:a16="http://schemas.microsoft.com/office/drawing/2014/main" id="{E687672C-2761-4FD0-BCB3-2C5A514E5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402" y="4108299"/>
            <a:ext cx="4357898" cy="274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5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7: Best Paper Award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59th Annual Conference of the Plastic Surgery Research Council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(New York, NY,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i="1" dirty="0">
                <a:latin typeface="Source Sans Pro" panose="020B0503030403020204" pitchFamily="34" charset="0"/>
              </a:rPr>
              <a:t>March 2014</a:t>
            </a:r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Immunosuppression-free Vascularized Composite Allotransplantation across a Full MHC Mismatch Using Cadaveric Bone Marrow Infusion and </a:t>
            </a:r>
            <a:r>
              <a:rPr lang="en-US" sz="1800" b="0" i="0" u="none" strike="noStrike" baseline="0" dirty="0" err="1">
                <a:latin typeface="Source Sans Pro" panose="020B0503030403020204" pitchFamily="34" charset="0"/>
              </a:rPr>
              <a:t>Costimulation</a:t>
            </a:r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 Blockade in a Translational Large Animal Model </a:t>
            </a:r>
            <a:endParaRPr lang="en-US" dirty="0"/>
          </a:p>
        </p:txBody>
      </p:sp>
      <p:pic>
        <p:nvPicPr>
          <p:cNvPr id="6" name="Picture 5" descr="A diagram of a cell cycle&#10;&#10;Description automatically generated">
            <a:extLst>
              <a:ext uri="{FF2B5EF4-FFF2-40B4-BE49-F238E27FC236}">
                <a16:creationId xmlns:a16="http://schemas.microsoft.com/office/drawing/2014/main" id="{AB66A965-8A2D-D62F-24B0-F9AE1FFA3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676" y="488949"/>
            <a:ext cx="3671124" cy="2851150"/>
          </a:xfrm>
          <a:prstGeom prst="rect">
            <a:avLst/>
          </a:prstGeom>
        </p:spPr>
      </p:pic>
      <p:pic>
        <p:nvPicPr>
          <p:cNvPr id="9" name="Picture 8" descr="A diagram of a cell membrane&#10;&#10;Description automatically generated">
            <a:extLst>
              <a:ext uri="{FF2B5EF4-FFF2-40B4-BE49-F238E27FC236}">
                <a16:creationId xmlns:a16="http://schemas.microsoft.com/office/drawing/2014/main" id="{8C5B42C6-7547-A87C-56B8-4A3EAA7A9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50" y="3517901"/>
            <a:ext cx="47625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6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8: Best Research Poster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610350" cy="4351338"/>
          </a:xfrm>
        </p:spPr>
        <p:txBody>
          <a:bodyPr>
            <a:normAutofit/>
          </a:bodyPr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8th Annual Research Poster Session of the Johns Hopkins Department of Surgery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(Baltimore, MD,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July 2014</a:t>
            </a: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Costimulatory Blockade in Combination with Donor Bone Marrow Infusion Induces Immune Tolerance Across a Full MHC Barrier in a Translational Large Animal Vascularized Composite Allotransplantation Model </a:t>
            </a:r>
            <a:endParaRPr lang="en-US" dirty="0"/>
          </a:p>
        </p:txBody>
      </p:sp>
      <p:pic>
        <p:nvPicPr>
          <p:cNvPr id="5" name="Picture 4" descr="A group of people sitting on a bench in front of a building&#10;&#10;Description automatically generated">
            <a:extLst>
              <a:ext uri="{FF2B5EF4-FFF2-40B4-BE49-F238E27FC236}">
                <a16:creationId xmlns:a16="http://schemas.microsoft.com/office/drawing/2014/main" id="{C3D525C3-1244-35B0-D9A3-591E93FCD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980" y="948866"/>
            <a:ext cx="3720201" cy="2480134"/>
          </a:xfrm>
          <a:prstGeom prst="rect">
            <a:avLst/>
          </a:prstGeom>
        </p:spPr>
      </p:pic>
      <p:pic>
        <p:nvPicPr>
          <p:cNvPr id="7" name="Picture 6" descr="Diagram of a diagram showing the effects of a cell and cd4&#10;&#10;Description automatically generated with medium confidence">
            <a:extLst>
              <a:ext uri="{FF2B5EF4-FFF2-40B4-BE49-F238E27FC236}">
                <a16:creationId xmlns:a16="http://schemas.microsoft.com/office/drawing/2014/main" id="{B3E72AE6-08BA-9B66-BBCF-068B595A4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741" y="3878479"/>
            <a:ext cx="3901440" cy="294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2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53"/>
            <a:ext cx="10515600" cy="1325563"/>
          </a:xfrm>
        </p:spPr>
        <p:txBody>
          <a:bodyPr/>
          <a:lstStyle/>
          <a:p>
            <a:r>
              <a:rPr lang="en-US" dirty="0"/>
              <a:t>9: Best Basic Science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6th Annual Resident Research Symposium of the Johns Hopkins/University of Maryland Departments of Plastic Surgery 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(Baltimore, MD,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July 2014</a:t>
            </a: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Selectively permeable nanofiber construct for optimizing peripheral nerve repair </a:t>
            </a:r>
            <a:endParaRPr lang="en-US" dirty="0"/>
          </a:p>
        </p:txBody>
      </p:sp>
      <p:pic>
        <p:nvPicPr>
          <p:cNvPr id="5" name="Picture 4" descr="Diagram of a diagram of a nanotechnology&#10;&#10;Description automatically generated">
            <a:extLst>
              <a:ext uri="{FF2B5EF4-FFF2-40B4-BE49-F238E27FC236}">
                <a16:creationId xmlns:a16="http://schemas.microsoft.com/office/drawing/2014/main" id="{5BC5E933-7585-6BE9-1342-5D61B711D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770" y="1203553"/>
            <a:ext cx="3948030" cy="2422104"/>
          </a:xfrm>
          <a:prstGeom prst="rect">
            <a:avLst/>
          </a:prstGeom>
        </p:spPr>
      </p:pic>
      <p:pic>
        <p:nvPicPr>
          <p:cNvPr id="8" name="Picture 7" descr="A diagram of a structure&#10;&#10;Description automatically generated with medium confidence">
            <a:extLst>
              <a:ext uri="{FF2B5EF4-FFF2-40B4-BE49-F238E27FC236}">
                <a16:creationId xmlns:a16="http://schemas.microsoft.com/office/drawing/2014/main" id="{3F021310-02CB-F8EA-C31A-19C999E79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598" y="4271835"/>
            <a:ext cx="4189202" cy="222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45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153"/>
            <a:ext cx="12192000" cy="1325563"/>
          </a:xfrm>
        </p:spPr>
        <p:txBody>
          <a:bodyPr/>
          <a:lstStyle/>
          <a:p>
            <a:r>
              <a:rPr lang="en-US" dirty="0"/>
              <a:t>10: Best Resident Poster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54817" cy="4351338"/>
          </a:xfrm>
        </p:spPr>
        <p:txBody>
          <a:bodyPr>
            <a:normAutofit/>
          </a:bodyPr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94th Annual Conference of the American Association of Plastic Surgeons 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(Scottsdale, AZ,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April 2015</a:t>
            </a:r>
          </a:p>
          <a:p>
            <a:endParaRPr lang="en-US" sz="1800" b="0" i="0" u="none" strike="noStrike" baseline="0" dirty="0">
              <a:latin typeface="Source Sans Pro" panose="020B0503030403020204" pitchFamily="34" charset="0"/>
            </a:endParaRPr>
          </a:p>
          <a:p>
            <a:pPr algn="l"/>
            <a:r>
              <a:rPr lang="en-US" sz="1800" b="0" i="0" u="none" strike="noStrike" baseline="0" dirty="0">
                <a:latin typeface="Source Sans Pro" panose="020B0503030403020204" pitchFamily="34" charset="0"/>
              </a:rPr>
              <a:t>Project: Functional abdominal wall reconstruction using an innervated abdominal wall vascularized composite allografts </a:t>
            </a:r>
            <a:endParaRPr lang="en-US" dirty="0"/>
          </a:p>
        </p:txBody>
      </p:sp>
      <p:pic>
        <p:nvPicPr>
          <p:cNvPr id="6" name="Picture 5" descr="A diagram of the internal organs of the human body&#10;&#10;Description automatically generated">
            <a:extLst>
              <a:ext uri="{FF2B5EF4-FFF2-40B4-BE49-F238E27FC236}">
                <a16:creationId xmlns:a16="http://schemas.microsoft.com/office/drawing/2014/main" id="{0C559E14-1043-692D-97AF-056B5C5E0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017" y="3806327"/>
            <a:ext cx="4678363" cy="2919176"/>
          </a:xfrm>
          <a:prstGeom prst="rect">
            <a:avLst/>
          </a:prstGeom>
        </p:spPr>
      </p:pic>
      <p:pic>
        <p:nvPicPr>
          <p:cNvPr id="11" name="Picture 10" descr="A diagram of the human body&#10;&#10;Description automatically generated with medium confidence">
            <a:extLst>
              <a:ext uri="{FF2B5EF4-FFF2-40B4-BE49-F238E27FC236}">
                <a16:creationId xmlns:a16="http://schemas.microsoft.com/office/drawing/2014/main" id="{124D8ECA-3A17-E119-0710-B7DCB9644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925" y="1228725"/>
            <a:ext cx="2840546" cy="237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10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53E6-8E8B-5642-966A-76A3486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153"/>
            <a:ext cx="12192000" cy="1325563"/>
          </a:xfrm>
        </p:spPr>
        <p:txBody>
          <a:bodyPr/>
          <a:lstStyle/>
          <a:p>
            <a:r>
              <a:rPr lang="en-US" dirty="0"/>
              <a:t>11: American College of Surgeons Travel Scholarship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BE21-9B31-912E-1FAA-52BD975AC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Leadership Conference and Advocacy Summit </a:t>
            </a:r>
            <a:br>
              <a:rPr lang="en-US" sz="1800" b="0" i="1" u="none" strike="noStrike" baseline="0" dirty="0">
                <a:latin typeface="Source Sans Pro" panose="020B0503030403020204" pitchFamily="34" charset="0"/>
              </a:rPr>
            </a:br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(Washington, DC, USA)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r>
              <a:rPr lang="en-US" sz="1800" b="0" i="1" u="none" strike="noStrike" baseline="0" dirty="0">
                <a:latin typeface="Source Sans Pro" panose="020B0503030403020204" pitchFamily="34" charset="0"/>
              </a:rPr>
              <a:t>March 2020</a:t>
            </a:r>
          </a:p>
          <a:p>
            <a:endParaRPr lang="en-US" sz="1800" i="1" dirty="0">
              <a:latin typeface="Source Sans Pro" panose="020B0503030403020204" pitchFamily="34" charset="0"/>
            </a:endParaRPr>
          </a:p>
          <a:p>
            <a:endParaRPr lang="en-US" sz="1800" b="0" i="1" u="none" strike="noStrike" baseline="0" dirty="0"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1800" b="0" i="0" u="none" strike="noStrike" baseline="0" dirty="0">
              <a:latin typeface="Source Sans Pro" panose="020B0503030403020204" pitchFamily="34" charset="0"/>
            </a:endParaRPr>
          </a:p>
        </p:txBody>
      </p:sp>
      <p:pic>
        <p:nvPicPr>
          <p:cNvPr id="8" name="Picture 7" descr="A person wearing a blue shirt&#10;&#10;Description automatically generated">
            <a:extLst>
              <a:ext uri="{FF2B5EF4-FFF2-40B4-BE49-F238E27FC236}">
                <a16:creationId xmlns:a16="http://schemas.microsoft.com/office/drawing/2014/main" id="{0B6CD158-CC99-6746-0EA9-72855947D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420110"/>
            <a:ext cx="4572000" cy="2392680"/>
          </a:xfrm>
          <a:prstGeom prst="rect">
            <a:avLst/>
          </a:prstGeom>
        </p:spPr>
      </p:pic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4D66A375-0C5E-8468-AE1B-C0480C554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2" y="1825625"/>
            <a:ext cx="2795588" cy="369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5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Source Sans Pro</vt:lpstr>
      <vt:lpstr>Office Theme</vt:lpstr>
      <vt:lpstr>1:Poster of Distinction</vt:lpstr>
      <vt:lpstr>2: Best Poster Award</vt:lpstr>
      <vt:lpstr>3: Resident Research Award</vt:lpstr>
      <vt:lpstr>4: Best Research Poster</vt:lpstr>
      <vt:lpstr>5: Highest Podium Presentation Score</vt:lpstr>
      <vt:lpstr>6: Best Paper Session</vt:lpstr>
      <vt:lpstr>7: Best Paper Award</vt:lpstr>
      <vt:lpstr>8: Best Research Poster</vt:lpstr>
      <vt:lpstr>9: Best Basic Science Paper</vt:lpstr>
      <vt:lpstr>10: Best Resident Poster</vt:lpstr>
      <vt:lpstr>11: American College of Surgeons Travel Scholarship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 Sarhane</dc:creator>
  <cp:lastModifiedBy>Karim Sarhane</cp:lastModifiedBy>
  <cp:revision>1</cp:revision>
  <dcterms:created xsi:type="dcterms:W3CDTF">2025-12-22T15:34:31Z</dcterms:created>
  <dcterms:modified xsi:type="dcterms:W3CDTF">2025-12-22T15:34:53Z</dcterms:modified>
</cp:coreProperties>
</file>